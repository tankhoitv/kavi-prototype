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A64"/>
                </a:solidFill>
                <a:latin typeface="JetBrains Mono"/>
              </a:rPr>
              <a:t>TEAM NAME TBD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41413"/>
                </a:solidFill>
                <a:latin typeface="XCharter"/>
              </a:rPr>
              <a:t>AI Voice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41848" y="3566160"/>
            <a:ext cx="914400" cy="0"/>
          </a:xfrm>
          <a:prstGeom prst="line">
            <a:avLst/>
          </a:prstGeom>
          <a:ln w="127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04E49"/>
                </a:solidFill>
                <a:latin typeface="XCharter"/>
              </a:rPr>
              <a:t>On-Device Vietnamese Speech-to-Speech Translation
for Industrial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A64"/>
                </a:solidFill>
                <a:latin typeface="JetBrains Mono"/>
              </a:rPr>
              <a:t>Registration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41413"/>
                </a:solidFill>
                <a:latin typeface="XCharter"/>
              </a:rPr>
              <a:t>Industrial communication fails when workers don't share a spoken language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011680"/>
            <a:ext cx="10058400" cy="0"/>
          </a:xfrm>
          <a:prstGeom prst="line">
            <a:avLst/>
          </a:prstGeom>
          <a:ln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286000"/>
            <a:ext cx="10058400" cy="320040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Shift handovers and safety briefings rely on spoken Vietnamese key phrases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Non-Vietnamese-speaking supervisors (technical expats, foreign partners) depend on interpreters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Interpreters introduce latency, errors, and privacy concerns in sensitive settings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Current fallback: paper translations, static phrasebooks, or disconnected cloud apps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$500M+ annual productivity loss in Vietnamese industrial sectors from language barriers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Competing products (Timekettle, Google Translate) require cloud connectivity or specialized HW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1413"/>
                </a:solidFill>
                <a:latin typeface="XCharter"/>
              </a:rPr>
              <a:t>AI Voice: on-device speech-to-speech translation running entirely on Snapdragon phones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011680"/>
            <a:ext cx="10058400" cy="0"/>
          </a:xfrm>
          <a:prstGeom prst="line">
            <a:avLst/>
          </a:prstGeom>
          <a:ln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286000"/>
            <a:ext cx="10058400" cy="292608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Worker speaks Vietnamese → phone translates → audio output in target language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No internet required — all inference runs on Qualcomm Snapdragon 8 Gen 2 NPU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Phone-in-pocket deployment via VAD activation + Bluetooth earpiece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Target scenarios: shift handovers, safety briefings, equipment training, incident reporting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Good-enough accuracy prioritized over near-native quality — industrial, not consumer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41413"/>
                </a:solidFill>
                <a:latin typeface="XCharter"/>
              </a:rPr>
              <a:t>A cascaded pipeline of open-source models optimized for on-device inference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691640"/>
            <a:ext cx="10058400" cy="0"/>
          </a:xfrm>
          <a:prstGeom prst="line">
            <a:avLst/>
          </a:prstGeom>
          <a:ln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011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B365D"/>
                </a:solidFill>
                <a:latin typeface="XChar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3"/>
                </a:solidFill>
                <a:latin typeface="XCharter"/>
              </a:rPr>
              <a:t>Voice Activity
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04E49"/>
                </a:solidFill>
                <a:latin typeface="XCharter"/>
              </a:rPr>
              <a:t>Silero VAD (mit-hr-lab)
~15ms latency
Frames audio start/end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B365D"/>
                </a:solidFill>
                <a:latin typeface="XChar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3"/>
                </a:solidFill>
                <a:latin typeface="XCharter"/>
              </a:rPr>
              <a:t>Speech
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47472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04E49"/>
                </a:solidFill>
                <a:latin typeface="XCharter"/>
              </a:rPr>
              <a:t>Whisper Medium (OpenAI)
via Qualcomm AI Hub int8
~400-600ms, 8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11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B365D"/>
                </a:solidFill>
                <a:latin typeface="XChar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834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3"/>
                </a:solidFill>
                <a:latin typeface="XCharter"/>
              </a:rPr>
              <a:t>Machine
Translation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47472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04E49"/>
                </a:solidFill>
                <a:latin typeface="XCharter"/>
              </a:rPr>
              <a:t>Quantized 440M-parameter NMT
CPU-optimized inference
~TBD ms, VI↔EN/ZH/KO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011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B365D"/>
                </a:solidFill>
                <a:latin typeface="XCharte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34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3"/>
                </a:solidFill>
                <a:latin typeface="XCharter"/>
              </a:rPr>
              <a:t>Text-to-
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7472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04E49"/>
                </a:solidFill>
                <a:latin typeface="XCharter"/>
              </a:rPr>
              <a:t>MeloTTS-VI custom
Qualcomm Hub extension
~150-250ms, native VI 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JetBrains Mono"/>
              </a:rPr>
              <a:t>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FFFFFF"/>
                </a:solidFill>
                <a:latin typeface="XCharter"/>
              </a:rPr>
              <a:t>Why Snapdragon 8 Gen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FORM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41413"/>
                </a:solidFill>
                <a:latin typeface="XCharter"/>
              </a:rPr>
              <a:t>The phone workers already own is the best Edge AI device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828800"/>
            <a:ext cx="10058400" cy="0"/>
          </a:xfrm>
          <a:prstGeom prst="line">
            <a:avLst/>
          </a:prstGeom>
          <a:ln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04E49"/>
                </a:solidFill>
                <a:latin typeface="XCharter"/>
              </a:rPr>
              <a:t>Wearables (the expensive 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320040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Weak battery for sustained inference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No NPU — runs on CPU -&gt; thermal failure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$300-500 additional hardware per worker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Overheats within 5-10 min of continuous load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Unproven durability in industrial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413"/>
                </a:solidFill>
                <a:latin typeface="XCharter"/>
              </a:rPr>
              <a:t>SD8G2 Phone (our path)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4754880" cy="320040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16GB RAM, dedicated Hexagon NPU + Adreno GPU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50M+ devices shipped (Galaxy S23, OnePlus 11, Xiaomi 13)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Thermal sweet spot: TSMC 4nm mature node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Zero additional hardware cost in enterprise deployment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$2-9/device/month via existing MDM (Samsung Knox, VMware)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41413"/>
                </a:solidFill>
                <a:latin typeface="XCharter"/>
              </a:rPr>
              <a:t>Three competitive edges that a tech-burger solution cannot replicate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011680"/>
            <a:ext cx="10058400" cy="0"/>
          </a:xfrm>
          <a:prstGeom prst="line">
            <a:avLst/>
          </a:prstGeom>
          <a:ln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97280" y="2286000"/>
            <a:ext cx="10058400" cy="123444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365D"/>
                </a:solidFill>
                <a:latin typeface="XCharter"/>
              </a:rPr>
              <a:t>MeloTTS-VI
Qualcomm Hub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774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3D3A"/>
                </a:solidFill>
                <a:latin typeface="XCharter"/>
              </a:rPr>
              <a:t>First Vietnamese TTS in the MeloTTS family on Qualcomm AI Hub. Institutionally aligned with the competition's goal of expanding the Hub catalog. Builds on community checkpoint (nmcuong/MeloTTS-Vietnamese).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703320"/>
            <a:ext cx="10058400" cy="123444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365D"/>
                </a:solidFill>
                <a:latin typeface="XCharter"/>
              </a:rPr>
              <a:t>DeepFilterNet
Tonal Preservation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9476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3D3A"/>
                </a:solidFill>
                <a:latin typeface="XCharter"/>
              </a:rPr>
              <a:t>Leading hypothesis: noise suppression with tonal-language-aware enhancement reduces WER by 15-30% in industrial noise. We plan to validate this empirically — proprietary data no other team will have.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120640"/>
            <a:ext cx="10058400" cy="1234440"/>
          </a:xfrm>
          <a:prstGeom prst="roundRect">
            <a:avLst/>
          </a:prstGeom>
          <a:solidFill>
            <a:srgbClr val="FAF9F5"/>
          </a:solidFill>
          <a:ln w="635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21208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365D"/>
                </a:solidFill>
                <a:latin typeface="XCharter"/>
              </a:rPr>
              <a:t>Thermal Tiers
Graceful Degradation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21208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D3D3A"/>
                </a:solidFill>
                <a:latin typeface="XCharter"/>
              </a:rPr>
              <a:t>Three-tier inference plan (nominal/warm/throttled) profiled on SD8G2. Most teams' demos crash under heat; ours falls back gracefully with staged quality reduction.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41413"/>
                </a:solidFill>
                <a:latin typeface="XCharter"/>
              </a:rPr>
              <a:t>MeloTTS-VI: the first Vietnamese TTS on Qualcomm AI Hub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828800"/>
            <a:ext cx="10058400" cy="0"/>
          </a:xfrm>
          <a:prstGeom prst="line">
            <a:avLst/>
          </a:prstGeom>
          <a:ln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04E49"/>
                </a:solidFill>
                <a:latin typeface="XCharter"/>
              </a:rPr>
              <a:t>Community checkpoint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320040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nmcuong/MeloTTS-Vietnamese on HuggingFace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MIT licensed — no IP conflict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25-hour Infore dataset (acknowledged quality limits)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PhoBERT-based encoder (architectural divergence)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Saves months vs. training from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413"/>
                </a:solidFill>
                <a:latin typeface="XCharter"/>
              </a:rPr>
              <a:t>Our plan to productionize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4754880" cy="320040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Fine-tune with industrial-noise-domain data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Adapt for Qualcomm AI Hub Workbench export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ONNX quantize with custom calibration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Validate MOS with native speaker panel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Ship back to Hub as first-party Vietnamese TTS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41413"/>
                </a:solidFill>
                <a:latin typeface="XCharter"/>
              </a:rPr>
              <a:t>No enterprise product solves Vietnamese S2ST offline in noise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828800"/>
            <a:ext cx="10058400" cy="0"/>
          </a:xfrm>
          <a:prstGeom prst="line">
            <a:avLst/>
          </a:prstGeom>
          <a:ln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04E49"/>
                </a:solidFill>
                <a:latin typeface="XCharter"/>
              </a:rPr>
              <a:t>What exists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320040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Google Translate: cloud-dependent, no S2ST pipeline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Timekettle WT2 (hardware): $299, cloud hybrid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RTranslator (open source): Whisper+NLLB, unoptimized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Quicksilver, iFLYTEK: Chinese-focused, cloud-heavy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1413"/>
                </a:solidFill>
                <a:latin typeface="XCharter"/>
              </a:rPr>
              <a:t>What's missing (our slot)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4754880" cy="320040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Complete offline S2ST on common phone hardware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Vietnamese as primary language (not EN-first port)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Industrial noise robustness with empirical validation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Qualcomm AI Hub model contribution (ecosystem play)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D3D3A"/>
                </a:solidFill>
                <a:latin typeface="XCharter"/>
              </a:rPr>
              <a:t>• Thermal-aware deployment for sustained industrial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BUSINESS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41413"/>
                </a:solidFill>
                <a:latin typeface="XCharter"/>
              </a:rPr>
              <a:t>Enterprise deployability without specialized hardware investment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828800"/>
            <a:ext cx="10058400" cy="0"/>
          </a:xfrm>
          <a:prstGeom prst="line">
            <a:avLst/>
          </a:prstGeom>
          <a:ln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4114800"/>
            <a:ext cx="10058400" cy="2286000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3D3D3A"/>
                </a:solidFill>
                <a:latin typeface="XCharter"/>
              </a:rPr>
              <a:t>• Zero incremental hardware — deployable via existing Samsung Knox / VMware MDM infrastructure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3D3D3A"/>
                </a:solidFill>
                <a:latin typeface="XCharter"/>
              </a:rPr>
              <a:t>• Target: footwear, garment, electronics factories with Vietnamese workforce + foreign management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3D3D3A"/>
                </a:solidFill>
                <a:latin typeface="XCharter"/>
              </a:rPr>
              <a:t>• Growing refurbished SD8G2 market reduces procurement cost for enterprise pilot programs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3D3D3A"/>
                </a:solidFill>
                <a:latin typeface="XCharter"/>
              </a:rPr>
              <a:t>• Competition prize includes partnership for product development — de-risks go-to-market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41413"/>
                </a:solidFill>
                <a:latin typeface="XCharter"/>
              </a:rPr>
              <a:t/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645920"/>
            <a:ext cx="914400" cy="0"/>
          </a:xfrm>
          <a:prstGeom prst="line">
            <a:avLst/>
          </a:prstGeom>
          <a:ln w="127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28116" y="22860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B365D"/>
                </a:solidFill>
                <a:latin typeface="XCharter"/>
              </a:rPr>
              <a:t>50M+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" y="36576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04E49"/>
                </a:solidFill>
                <a:latin typeface="XCharter"/>
              </a:rPr>
              <a:t>SD8G2 devices
shipped globally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9876" y="22860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B365D"/>
                </a:solidFill>
                <a:latin typeface="XCharter"/>
              </a:rPr>
              <a:t>$2-9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9876" y="36576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04E49"/>
                </a:solidFill>
                <a:latin typeface="XCharter"/>
              </a:rPr>
              <a:t>MDM cost
/device/month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1636" y="22860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B365D"/>
                </a:solidFill>
                <a:latin typeface="XCharter"/>
              </a:rPr>
              <a:t>35-50%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1636" y="36576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04E49"/>
                </a:solidFill>
                <a:latin typeface="XCharter"/>
              </a:rPr>
              <a:t>Refurbished
price 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3396" y="22860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B365D"/>
                </a:solidFill>
                <a:latin typeface="XCharter"/>
              </a:rPr>
              <a:t>3+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3396" y="36576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04E49"/>
                </a:solidFill>
                <a:latin typeface="XCharter"/>
              </a:rPr>
              <a:t>Enterprise
support window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41413"/>
                </a:solidFill>
                <a:latin typeface="XCharter"/>
              </a:rPr>
              <a:t>Four phases from prototype to field-ready product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1691640"/>
            <a:ext cx="10058400" cy="0"/>
          </a:xfrm>
          <a:prstGeom prst="line">
            <a:avLst/>
          </a:prstGeom>
          <a:ln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011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B365D"/>
                </a:solidFill>
                <a:latin typeface="XChar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3"/>
                </a:solidFill>
                <a:latin typeface="XCharter"/>
              </a:rPr>
              <a:t>Phase 1
Jun-Jul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04E49"/>
                </a:solidFill>
                <a:latin typeface="XCharter"/>
              </a:rPr>
              <a:t>Prototype pipeline on SD8G2
Focused on VI-EN pair
Latency budget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B365D"/>
                </a:solidFill>
                <a:latin typeface="XChar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3"/>
                </a:solidFill>
                <a:latin typeface="XCharter"/>
              </a:rPr>
              <a:t>Phase 2
Jul-Aug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47472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04E49"/>
                </a:solidFill>
                <a:latin typeface="XCharter"/>
              </a:rPr>
              <a:t>Noise robustness tuning
Thermal profiling
MeloTTS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11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B365D"/>
                </a:solidFill>
                <a:latin typeface="XChar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834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3"/>
                </a:solidFill>
                <a:latin typeface="XCharter"/>
              </a:rPr>
              <a:t>Phase 3
Aug-Sep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47472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04E49"/>
                </a:solidFill>
                <a:latin typeface="XCharter"/>
              </a:rPr>
              <a:t>Field testing at partner site
Multi-language expansion
MOS panel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0116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B365D"/>
                </a:solidFill>
                <a:latin typeface="XCharte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34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1413"/>
                </a:solidFill>
                <a:latin typeface="XCharter"/>
              </a:rPr>
              <a:t>Phase 4
Sep-Nov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7472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04E49"/>
                </a:solidFill>
                <a:latin typeface="XCharter"/>
              </a:rPr>
              <a:t>Grand Finale presentation
Business case finalization
Hub distribution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A64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141413"/>
                </a:solidFill>
                <a:latin typeface="XCharter"/>
              </a:rPr>
              <a:t>From prototype to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57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04E49"/>
                </a:solidFill>
                <a:latin typeface="XCharter"/>
              </a:rPr>
              <a:t>On-device Vietnamese speech translation for the industrial workforce.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41848" y="4572000"/>
            <a:ext cx="914400" cy="0"/>
          </a:xfrm>
          <a:prstGeom prst="line">
            <a:avLst/>
          </a:prstGeom>
          <a:ln w="12700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A64"/>
                </a:solidFill>
                <a:latin typeface="JetBrains Mono"/>
              </a:rPr>
              <a:t>TEAM NAME · TEAM EMAIL · GITHUB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